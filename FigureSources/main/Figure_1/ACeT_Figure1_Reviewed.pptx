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54" y="2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1. ACeT architecture for assay-integrated antibody developability prediction. Each assay token sums a value embedding and a learned feature-identity embedding. The encoder contains pre-normalized self-attention and a GELU feed-forward sublayer, each followed by residual addition. Pooling follows the final residual addition. Candidate heads are evaluated separately by development cross-validation. KAN is highlighted only to illustrate the selection route; the selected head is endpoint-specific. The applications are alternative endpoint-specific models, not simultaneous multi-task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1839" y="51234"/>
            <a:ext cx="270138" cy="24500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tIns="9144" rIns="9144" bIns="9144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202326"/>
                </a:solidFill>
                <a:latin typeface="Arial"/>
              </a:rPr>
              <a:t>(a)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9156" y="51234"/>
            <a:ext cx="281359" cy="24500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tIns="9144" rIns="9144" bIns="9144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202326"/>
                </a:solidFill>
                <a:latin typeface="Arial"/>
              </a:rPr>
              <a:t>(b)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4591" y="51234"/>
            <a:ext cx="270138" cy="24500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tIns="9144" rIns="9144" bIns="9144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202326"/>
                </a:solidFill>
                <a:latin typeface="Arial"/>
              </a:rPr>
              <a:t>(c)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" y="850392"/>
            <a:ext cx="758952" cy="438912"/>
          </a:xfrm>
          <a:prstGeom prst="roundRect">
            <a:avLst/>
          </a:prstGeom>
          <a:solidFill>
            <a:srgbClr val="DDDDDD"/>
          </a:solidFill>
          <a:ln w="14604">
            <a:solidFill>
              <a:srgbClr val="202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202326"/>
                </a:solidFill>
                <a:latin typeface="Arial"/>
              </a:rPr>
              <a:t>Assay </a:t>
            </a:r>
            <a:endParaRPr lang="en-US" sz="1400" b="1" i="0" dirty="0">
              <a:solidFill>
                <a:srgbClr val="202326"/>
              </a:solidFill>
              <a:latin typeface="Arial"/>
            </a:endParaRP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202326"/>
                </a:solidFill>
                <a:latin typeface="Arial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429768"/>
            <a:ext cx="1627632" cy="1298448"/>
          </a:xfrm>
          <a:prstGeom prst="roundRect">
            <a:avLst/>
          </a:prstGeom>
          <a:solidFill>
            <a:srgbClr val="F6F7F8"/>
          </a:solidFill>
          <a:ln w="10160">
            <a:solidFill>
              <a:srgbClr val="D2D6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225296" y="548640"/>
            <a:ext cx="1280160" cy="429768"/>
          </a:xfrm>
          <a:prstGeom prst="roundRect">
            <a:avLst/>
          </a:prstGeom>
          <a:solidFill>
            <a:srgbClr val="E9F6F8"/>
          </a:solidFill>
          <a:ln w="15875">
            <a:solidFill>
              <a:srgbClr val="00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dirty="0">
                <a:solidFill>
                  <a:srgbClr val="006277"/>
                </a:solidFill>
                <a:latin typeface="Arial"/>
              </a:rPr>
              <a:t>Value Embedding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5648" y="978407"/>
            <a:ext cx="219456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tIns="9144" rIns="9144" bIns="9144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6277"/>
                </a:solidFill>
                <a:latin typeface="Arial"/>
              </a:rPr>
              <a:t>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25296" y="1170432"/>
            <a:ext cx="1280160" cy="438912"/>
          </a:xfrm>
          <a:prstGeom prst="roundRect">
            <a:avLst/>
          </a:prstGeom>
          <a:solidFill>
            <a:srgbClr val="E9F6F8"/>
          </a:solidFill>
          <a:ln w="15875">
            <a:solidFill>
              <a:srgbClr val="00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dirty="0">
                <a:solidFill>
                  <a:srgbClr val="006277"/>
                </a:solidFill>
                <a:latin typeface="Arial"/>
              </a:rPr>
              <a:t>Feature Identity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dirty="0">
                <a:solidFill>
                  <a:srgbClr val="006277"/>
                </a:solidFill>
                <a:latin typeface="Arial"/>
              </a:rPr>
              <a:t>Embedding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4592" y="2587752"/>
            <a:ext cx="758952" cy="438912"/>
          </a:xfrm>
          <a:prstGeom prst="roundRect">
            <a:avLst/>
          </a:prstGeom>
          <a:solidFill>
            <a:srgbClr val="DDDDDD"/>
          </a:solidFill>
          <a:ln w="14604">
            <a:solidFill>
              <a:srgbClr val="202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202326"/>
                </a:solidFill>
                <a:latin typeface="Arial"/>
              </a:rPr>
              <a:t>Assay</a:t>
            </a:r>
            <a:endParaRPr lang="en-US" sz="1400" b="1" i="0" dirty="0">
              <a:solidFill>
                <a:srgbClr val="202326"/>
              </a:solidFill>
              <a:latin typeface="Arial"/>
            </a:endParaRP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202326"/>
                </a:solidFill>
                <a:latin typeface="Arial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2167128"/>
            <a:ext cx="1627632" cy="1298448"/>
          </a:xfrm>
          <a:prstGeom prst="roundRect">
            <a:avLst/>
          </a:prstGeom>
          <a:solidFill>
            <a:srgbClr val="F6F7F8"/>
          </a:solidFill>
          <a:ln w="10160">
            <a:solidFill>
              <a:srgbClr val="D2D6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225296" y="2286000"/>
            <a:ext cx="1280160" cy="429768"/>
          </a:xfrm>
          <a:prstGeom prst="roundRect">
            <a:avLst/>
          </a:prstGeom>
          <a:solidFill>
            <a:srgbClr val="E9F6F8"/>
          </a:solidFill>
          <a:ln w="15875">
            <a:solidFill>
              <a:srgbClr val="00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dirty="0">
                <a:solidFill>
                  <a:srgbClr val="006277"/>
                </a:solidFill>
                <a:latin typeface="Arial"/>
              </a:rPr>
              <a:t>Value Embedding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2715768"/>
            <a:ext cx="219456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tIns="9144" rIns="9144" bIns="9144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6277"/>
                </a:solidFill>
                <a:latin typeface="Arial"/>
              </a:rPr>
              <a:t>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25296" y="2907792"/>
            <a:ext cx="1280160" cy="438912"/>
          </a:xfrm>
          <a:prstGeom prst="roundRect">
            <a:avLst/>
          </a:prstGeom>
          <a:solidFill>
            <a:srgbClr val="E9F6F8"/>
          </a:solidFill>
          <a:ln w="15875">
            <a:solidFill>
              <a:srgbClr val="00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dirty="0">
                <a:solidFill>
                  <a:srgbClr val="006277"/>
                </a:solidFill>
                <a:latin typeface="Arial"/>
              </a:rPr>
              <a:t>Feature Identity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dirty="0">
                <a:solidFill>
                  <a:srgbClr val="006277"/>
                </a:solidFill>
                <a:latin typeface="Arial"/>
              </a:rPr>
              <a:t>Embedding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00784" y="3547872"/>
            <a:ext cx="329184" cy="40233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tIns="9144" rIns="9144" bIns="9144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02326"/>
                </a:solidFill>
                <a:latin typeface="Arial"/>
              </a:rPr>
              <a:t>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4592" y="4334256"/>
            <a:ext cx="758952" cy="438912"/>
          </a:xfrm>
          <a:prstGeom prst="roundRect">
            <a:avLst/>
          </a:prstGeom>
          <a:solidFill>
            <a:srgbClr val="DDDDDD"/>
          </a:solidFill>
          <a:ln w="14604">
            <a:solidFill>
              <a:srgbClr val="202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202326"/>
                </a:solidFill>
                <a:latin typeface="Arial"/>
              </a:rPr>
              <a:t>Assay 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3913632"/>
            <a:ext cx="1627632" cy="1298448"/>
          </a:xfrm>
          <a:prstGeom prst="roundRect">
            <a:avLst/>
          </a:prstGeom>
          <a:solidFill>
            <a:srgbClr val="F6F7F8"/>
          </a:solidFill>
          <a:ln w="10160">
            <a:solidFill>
              <a:srgbClr val="D2D6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225296" y="4032504"/>
            <a:ext cx="1280160" cy="429768"/>
          </a:xfrm>
          <a:prstGeom prst="roundRect">
            <a:avLst/>
          </a:prstGeom>
          <a:solidFill>
            <a:srgbClr val="E9F6F8"/>
          </a:solidFill>
          <a:ln w="15875">
            <a:solidFill>
              <a:srgbClr val="00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dirty="0">
                <a:solidFill>
                  <a:srgbClr val="006277"/>
                </a:solidFill>
                <a:latin typeface="Arial"/>
              </a:rPr>
              <a:t>Value Embedding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55648" y="4462272"/>
            <a:ext cx="219456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tIns="9144" rIns="9144" bIns="9144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6277"/>
                </a:solidFill>
                <a:latin typeface="Arial"/>
              </a:rPr>
              <a:t>+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25296" y="4654296"/>
            <a:ext cx="1280160" cy="438912"/>
          </a:xfrm>
          <a:prstGeom prst="roundRect">
            <a:avLst/>
          </a:prstGeom>
          <a:solidFill>
            <a:srgbClr val="E9F6F8"/>
          </a:solidFill>
          <a:ln w="15875">
            <a:solidFill>
              <a:srgbClr val="00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dirty="0">
                <a:solidFill>
                  <a:srgbClr val="006277"/>
                </a:solidFill>
                <a:latin typeface="Arial"/>
              </a:rPr>
              <a:t>Feature Identity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dirty="0">
                <a:solidFill>
                  <a:srgbClr val="006277"/>
                </a:solidFill>
                <a:latin typeface="Arial"/>
              </a:rPr>
              <a:t>Embedding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26080" y="448056"/>
            <a:ext cx="2743200" cy="4736592"/>
          </a:xfrm>
          <a:prstGeom prst="roundRect">
            <a:avLst/>
          </a:prstGeom>
          <a:solidFill>
            <a:srgbClr val="EAF6F9"/>
          </a:solidFill>
          <a:ln w="17145">
            <a:solidFill>
              <a:srgbClr val="00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044952" y="521207"/>
            <a:ext cx="2505456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tIns="9144" rIns="9144" bIns="9144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dirty="0">
                <a:solidFill>
                  <a:srgbClr val="006277"/>
                </a:solidFill>
                <a:latin typeface="Arial"/>
              </a:rPr>
              <a:t>Transformer Encoder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37560" y="1115568"/>
            <a:ext cx="1920240" cy="411480"/>
          </a:xfrm>
          <a:prstGeom prst="roundRect">
            <a:avLst/>
          </a:prstGeom>
          <a:solidFill>
            <a:srgbClr val="E9F6F8"/>
          </a:solidFill>
          <a:ln w="15875">
            <a:solidFill>
              <a:srgbClr val="00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006277"/>
                </a:solidFill>
                <a:latin typeface="Arial"/>
              </a:rPr>
              <a:t>Layer Normalization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0" y="1728216"/>
            <a:ext cx="2194560" cy="603504"/>
          </a:xfrm>
          <a:prstGeom prst="roundRect">
            <a:avLst/>
          </a:prstGeom>
          <a:solidFill>
            <a:srgbClr val="D7EDF1"/>
          </a:solidFill>
          <a:ln w="15875">
            <a:solidFill>
              <a:srgbClr val="00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6980"/>
                </a:solidFill>
                <a:latin typeface="Arial"/>
              </a:rPr>
              <a:t>Multi-Head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6980"/>
                </a:solidFill>
                <a:latin typeface="Arial"/>
              </a:rPr>
              <a:t>Self-Attention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93008" y="2523744"/>
            <a:ext cx="1609344" cy="347472"/>
          </a:xfrm>
          <a:prstGeom prst="roundRect">
            <a:avLst/>
          </a:prstGeom>
          <a:solidFill>
            <a:srgbClr val="E9F6F8"/>
          </a:solidFill>
          <a:ln w="15875">
            <a:solidFill>
              <a:srgbClr val="00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006277"/>
                </a:solidFill>
                <a:latin typeface="Arial"/>
              </a:rPr>
              <a:t>Residual Add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37560" y="3054096"/>
            <a:ext cx="1920240" cy="411480"/>
          </a:xfrm>
          <a:prstGeom prst="roundRect">
            <a:avLst/>
          </a:prstGeom>
          <a:solidFill>
            <a:srgbClr val="E9F6F8"/>
          </a:solidFill>
          <a:ln w="15875">
            <a:solidFill>
              <a:srgbClr val="00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006277"/>
                </a:solidFill>
                <a:latin typeface="Arial"/>
              </a:rPr>
              <a:t>Layer Normalization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00400" y="3666744"/>
            <a:ext cx="2194560" cy="603504"/>
          </a:xfrm>
          <a:prstGeom prst="roundRect">
            <a:avLst/>
          </a:prstGeom>
          <a:solidFill>
            <a:srgbClr val="D7EDF1"/>
          </a:solidFill>
          <a:ln w="15875">
            <a:solidFill>
              <a:srgbClr val="00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6980"/>
                </a:solidFill>
                <a:latin typeface="Arial"/>
              </a:rPr>
              <a:t>Feed-Forward Network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6980"/>
                </a:solidFill>
                <a:latin typeface="Arial"/>
              </a:rPr>
              <a:t>(GELU)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93008" y="4462272"/>
            <a:ext cx="1609344" cy="347472"/>
          </a:xfrm>
          <a:prstGeom prst="roundRect">
            <a:avLst/>
          </a:prstGeom>
          <a:solidFill>
            <a:srgbClr val="E9F6F8"/>
          </a:solidFill>
          <a:ln w="15875">
            <a:solidFill>
              <a:srgbClr val="00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006277"/>
                </a:solidFill>
                <a:latin typeface="Arial"/>
              </a:rPr>
              <a:t>Residual Add</a:t>
            </a:r>
          </a:p>
        </p:txBody>
      </p:sp>
      <p:sp>
        <p:nvSpPr>
          <p:cNvPr id="50" name="Oval 49"/>
          <p:cNvSpPr/>
          <p:nvPr/>
        </p:nvSpPr>
        <p:spPr>
          <a:xfrm>
            <a:off x="5998464" y="1060704"/>
            <a:ext cx="1307592" cy="1307592"/>
          </a:xfrm>
          <a:prstGeom prst="ellipse">
            <a:avLst/>
          </a:prstGeom>
          <a:solidFill>
            <a:srgbClr val="E9F6F8"/>
          </a:solidFill>
          <a:ln w="15875">
            <a:solidFill>
              <a:srgbClr val="00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dirty="0">
                <a:solidFill>
                  <a:srgbClr val="006277"/>
                </a:solidFill>
                <a:latin typeface="Arial"/>
              </a:rPr>
              <a:t>Global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dirty="0">
                <a:solidFill>
                  <a:srgbClr val="006277"/>
                </a:solidFill>
                <a:latin typeface="Arial"/>
              </a:rPr>
              <a:t>Average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dirty="0">
                <a:solidFill>
                  <a:srgbClr val="006277"/>
                </a:solidFill>
                <a:latin typeface="Arial"/>
              </a:rPr>
              <a:t>Pooling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217152" y="502920"/>
            <a:ext cx="2157984" cy="502920"/>
          </a:xfrm>
          <a:prstGeom prst="roundRect">
            <a:avLst/>
          </a:prstGeom>
          <a:solidFill>
            <a:srgbClr val="FDEEF6"/>
          </a:solidFill>
          <a:ln w="17145">
            <a:solidFill>
              <a:srgbClr val="D525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B40C4C"/>
                </a:solidFill>
                <a:latin typeface="Arial"/>
              </a:rPr>
              <a:t>MLP Head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17152" y="1188720"/>
            <a:ext cx="2157984" cy="502920"/>
          </a:xfrm>
          <a:prstGeom prst="roundRect">
            <a:avLst/>
          </a:prstGeom>
          <a:solidFill>
            <a:srgbClr val="FDEEF6"/>
          </a:solidFill>
          <a:ln w="17145">
            <a:solidFill>
              <a:srgbClr val="D525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B40C4C"/>
                </a:solidFill>
                <a:latin typeface="Arial"/>
              </a:rPr>
              <a:t>RBF Head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217152" y="1874519"/>
            <a:ext cx="2157984" cy="502920"/>
          </a:xfrm>
          <a:prstGeom prst="roundRect">
            <a:avLst/>
          </a:prstGeom>
          <a:solidFill>
            <a:srgbClr val="E9F6F8"/>
          </a:solidFill>
          <a:ln w="17145">
            <a:solidFill>
              <a:srgbClr val="00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6980"/>
                </a:solidFill>
                <a:latin typeface="Arial"/>
              </a:rPr>
              <a:t>KAN Head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217152" y="2560320"/>
            <a:ext cx="2157984" cy="502920"/>
          </a:xfrm>
          <a:prstGeom prst="roundRect">
            <a:avLst/>
          </a:prstGeom>
          <a:solidFill>
            <a:srgbClr val="FDEEF6"/>
          </a:solidFill>
          <a:ln w="17145">
            <a:solidFill>
              <a:srgbClr val="D525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B80044"/>
                </a:solidFill>
                <a:latin typeface="Arial"/>
              </a:rPr>
              <a:t>Cubic-Spline Head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217152" y="3246120"/>
            <a:ext cx="2157984" cy="502920"/>
          </a:xfrm>
          <a:prstGeom prst="roundRect">
            <a:avLst/>
          </a:prstGeom>
          <a:solidFill>
            <a:srgbClr val="FDEEF6"/>
          </a:solidFill>
          <a:ln w="17145">
            <a:solidFill>
              <a:srgbClr val="D525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B80044"/>
                </a:solidFill>
                <a:latin typeface="Arial"/>
              </a:rPr>
              <a:t>Pairwise Interaction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B80044"/>
                </a:solidFill>
                <a:latin typeface="Arial"/>
              </a:rPr>
              <a:t>Head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341364" y="2880360"/>
            <a:ext cx="1828800" cy="658368"/>
          </a:xfrm>
          <a:prstGeom prst="roundRect">
            <a:avLst/>
          </a:prstGeom>
          <a:solidFill>
            <a:srgbClr val="E9F6F8"/>
          </a:solidFill>
          <a:ln w="15875">
            <a:solidFill>
              <a:srgbClr val="00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6980"/>
                </a:solidFill>
                <a:latin typeface="Arial"/>
              </a:rPr>
              <a:t>CV-Selected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6980"/>
                </a:solidFill>
                <a:latin typeface="Arial"/>
              </a:rPr>
              <a:t>Head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907024" y="3858768"/>
            <a:ext cx="2697480" cy="841248"/>
          </a:xfrm>
          <a:prstGeom prst="roundRect">
            <a:avLst/>
          </a:prstGeom>
          <a:solidFill>
            <a:srgbClr val="FFF3E9"/>
          </a:solidFill>
          <a:ln w="17145">
            <a:solidFill>
              <a:srgbClr val="F1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2004" rIns="32004" rtlCol="0" anchor="ctr" tIns="22860" bIns="2286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6277"/>
                </a:solidFill>
                <a:latin typeface="Arial"/>
              </a:rPr>
              <a:t>Task-Specific Output Layer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6277"/>
                </a:solidFill>
                <a:latin typeface="Arial"/>
              </a:rPr>
              <a:t>Linear (regression)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6277"/>
                </a:solidFill>
                <a:latin typeface="Arial"/>
              </a:rPr>
              <a:t>Softmax (classification)</a:t>
            </a:r>
          </a:p>
        </p:txBody>
      </p:sp>
      <p:sp>
        <p:nvSpPr>
          <p:cNvPr id="80" name="Oval 79"/>
          <p:cNvSpPr/>
          <p:nvPr/>
        </p:nvSpPr>
        <p:spPr>
          <a:xfrm>
            <a:off x="5532120" y="5212080"/>
            <a:ext cx="1417320" cy="1417320"/>
          </a:xfrm>
          <a:prstGeom prst="ellipse">
            <a:avLst/>
          </a:prstGeom>
          <a:solidFill>
            <a:srgbClr val="FFF3E9"/>
          </a:solidFill>
          <a:ln w="15875">
            <a:solidFill>
              <a:srgbClr val="F1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7150608" y="5212080"/>
            <a:ext cx="1417320" cy="1417320"/>
          </a:xfrm>
          <a:prstGeom prst="ellipse">
            <a:avLst/>
          </a:prstGeom>
          <a:solidFill>
            <a:srgbClr val="FFF3E9"/>
          </a:solidFill>
          <a:ln w="15875">
            <a:solidFill>
              <a:srgbClr val="F1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8769096" y="5212080"/>
            <a:ext cx="1417320" cy="1417320"/>
          </a:xfrm>
          <a:prstGeom prst="ellipse">
            <a:avLst/>
          </a:prstGeom>
          <a:solidFill>
            <a:srgbClr val="FFF3E9"/>
          </a:solidFill>
          <a:ln w="15875">
            <a:solidFill>
              <a:srgbClr val="F1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10387584" y="5212080"/>
            <a:ext cx="1417320" cy="1417320"/>
          </a:xfrm>
          <a:prstGeom prst="ellipse">
            <a:avLst/>
          </a:prstGeom>
          <a:solidFill>
            <a:srgbClr val="FFF3E9"/>
          </a:solidFill>
          <a:ln w="15875">
            <a:solidFill>
              <a:srgbClr val="F1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4" name="Picture 83" descr="shape_33_Graphic 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312" y="5330952"/>
            <a:ext cx="621792" cy="621792"/>
          </a:xfrm>
          <a:prstGeom prst="rect">
            <a:avLst/>
          </a:prstGeom>
          <a:effectLst/>
        </p:spPr>
      </p:pic>
      <p:pic>
        <p:nvPicPr>
          <p:cNvPr id="85" name="Picture 84" descr="shape_35_Graphic 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2" y="5404104"/>
            <a:ext cx="676656" cy="676656"/>
          </a:xfrm>
          <a:prstGeom prst="rect">
            <a:avLst/>
          </a:prstGeom>
          <a:effectLst/>
        </p:spPr>
      </p:pic>
      <p:pic>
        <p:nvPicPr>
          <p:cNvPr id="86" name="Picture 85" descr="shape_33_Graphic 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5844" y="5294376"/>
            <a:ext cx="310896" cy="310896"/>
          </a:xfrm>
          <a:prstGeom prst="rect">
            <a:avLst/>
          </a:prstGeom>
          <a:effectLst/>
        </p:spPr>
      </p:pic>
      <p:cxnSp>
        <p:nvCxnSpPr>
          <p:cNvPr id="87" name="Connector 86"/>
          <p:cNvCxnSpPr/>
          <p:nvPr/>
        </p:nvCxnSpPr>
        <p:spPr>
          <a:xfrm>
            <a:off x="9182404" y="5787237"/>
            <a:ext cx="599390" cy="0"/>
          </a:xfrm>
          <a:prstGeom prst="line">
            <a:avLst/>
          </a:prstGeom>
          <a:ln w="21590">
            <a:solidFill>
              <a:srgbClr val="007F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9182404" y="5370271"/>
            <a:ext cx="0" cy="416966"/>
          </a:xfrm>
          <a:prstGeom prst="line">
            <a:avLst/>
          </a:prstGeom>
          <a:ln w="21590">
            <a:solidFill>
              <a:srgbClr val="007F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9217152" y="5726430"/>
            <a:ext cx="86868" cy="17373"/>
          </a:xfrm>
          <a:prstGeom prst="line">
            <a:avLst/>
          </a:prstGeom>
          <a:ln w="26670">
            <a:solidFill>
              <a:srgbClr val="007F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9304020" y="5665622"/>
            <a:ext cx="78181" cy="60808"/>
          </a:xfrm>
          <a:prstGeom prst="line">
            <a:avLst/>
          </a:prstGeom>
          <a:ln w="26670">
            <a:solidFill>
              <a:srgbClr val="007F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9382201" y="5396331"/>
            <a:ext cx="78181" cy="269291"/>
          </a:xfrm>
          <a:prstGeom prst="line">
            <a:avLst/>
          </a:prstGeom>
          <a:ln w="26670">
            <a:solidFill>
              <a:srgbClr val="007F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460382" y="5396331"/>
            <a:ext cx="78181" cy="217170"/>
          </a:xfrm>
          <a:prstGeom prst="line">
            <a:avLst/>
          </a:prstGeom>
          <a:ln w="26670">
            <a:solidFill>
              <a:srgbClr val="007F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538563" y="5613501"/>
            <a:ext cx="78181" cy="86868"/>
          </a:xfrm>
          <a:prstGeom prst="line">
            <a:avLst/>
          </a:prstGeom>
          <a:ln w="26670">
            <a:solidFill>
              <a:srgbClr val="007F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616744" y="5700369"/>
            <a:ext cx="104242" cy="34747"/>
          </a:xfrm>
          <a:prstGeom prst="line">
            <a:avLst/>
          </a:prstGeom>
          <a:ln w="26670">
            <a:solidFill>
              <a:srgbClr val="007F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720986" y="5735116"/>
            <a:ext cx="52121" cy="8687"/>
          </a:xfrm>
          <a:prstGeom prst="line">
            <a:avLst/>
          </a:prstGeom>
          <a:ln w="26670">
            <a:solidFill>
              <a:srgbClr val="007F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Picture 96" descr="shape_37_Graphic 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8752" y="5330952"/>
            <a:ext cx="530352" cy="530352"/>
          </a:xfrm>
          <a:prstGeom prst="rect">
            <a:avLst/>
          </a:prstGeom>
          <a:effectLst/>
        </p:spPr>
      </p:pic>
      <p:pic>
        <p:nvPicPr>
          <p:cNvPr id="98" name="Picture 97" descr="shape_38_Graphic 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5664" y="5397955"/>
            <a:ext cx="310896" cy="274320"/>
          </a:xfrm>
          <a:prstGeom prst="rect">
            <a:avLst/>
          </a:prstGeom>
          <a:effectLst/>
        </p:spPr>
      </p:pic>
      <p:pic>
        <p:nvPicPr>
          <p:cNvPr id="99" name="Picture 98" descr="shape_40_Graphic 7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92840" y="5321808"/>
            <a:ext cx="292608" cy="292608"/>
          </a:xfrm>
          <a:prstGeom prst="rect">
            <a:avLst/>
          </a:prstGeom>
          <a:effectLst/>
        </p:spPr>
      </p:pic>
      <p:pic>
        <p:nvPicPr>
          <p:cNvPr id="100" name="Picture 99" descr="shape_39_Graphic 6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92840" y="5596128"/>
            <a:ext cx="292608" cy="292608"/>
          </a:xfrm>
          <a:prstGeom prst="rect">
            <a:avLst/>
          </a:prstGeom>
          <a:effectLst/>
        </p:spPr>
      </p:pic>
      <p:sp>
        <p:nvSpPr>
          <p:cNvPr id="101" name="TextBox 100"/>
          <p:cNvSpPr txBox="1"/>
          <p:nvPr/>
        </p:nvSpPr>
        <p:spPr>
          <a:xfrm>
            <a:off x="5577840" y="6035040"/>
            <a:ext cx="1325880" cy="4846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2004" tIns="22860" rIns="32004" bIns="2286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5B70"/>
                </a:solidFill>
                <a:latin typeface="Arial"/>
              </a:rPr>
              <a:t>High-Concentration</a:t>
            </a:r>
            <a:endParaRPr lang="en-US" sz="1050" b="1" dirty="0">
              <a:solidFill>
                <a:srgbClr val="005B7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5B70"/>
                </a:solidFill>
                <a:latin typeface="Arial"/>
              </a:rPr>
              <a:t>Viscosity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196328" y="6035040"/>
            <a:ext cx="1325880" cy="4846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2004" tIns="22860" rIns="32004" bIns="2286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5B70"/>
                </a:solidFill>
                <a:latin typeface="Arial"/>
              </a:rPr>
              <a:t>Mouse IV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5B70"/>
                </a:solidFill>
                <a:latin typeface="Arial"/>
              </a:rPr>
              <a:t>Exposure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814816" y="6035040"/>
            <a:ext cx="1325880" cy="4846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2004" tIns="22860" rIns="32004" bIns="2286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5B70"/>
                </a:solidFill>
                <a:latin typeface="Arial"/>
              </a:rPr>
              <a:t>HIC Retention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5B70"/>
                </a:solidFill>
                <a:latin typeface="Arial"/>
              </a:rPr>
              <a:t>Time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433304" y="6035040"/>
            <a:ext cx="1325880" cy="4846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2004" tIns="22860" rIns="32004" bIns="2286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5B70"/>
                </a:solidFill>
                <a:latin typeface="Arial"/>
              </a:rPr>
              <a:t>Clinical Outcome</a:t>
            </a:r>
            <a:endParaRPr lang="en-US" sz="1000" b="1" dirty="0">
              <a:solidFill>
                <a:srgbClr val="005B7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5B70"/>
                </a:solidFill>
                <a:latin typeface="Arial"/>
              </a:rPr>
              <a:t>(Approved vs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5B70"/>
                </a:solidFill>
                <a:latin typeface="Arial"/>
              </a:rPr>
              <a:t>Terminated)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011412" y="208973"/>
            <a:ext cx="2511552" cy="276999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5C70"/>
                </a:solidFill>
                <a:latin typeface="Arial"/>
              </a:rPr>
              <a:t>Candidate Prediction Heads</a:t>
            </a:r>
          </a:p>
        </p:txBody>
      </p:sp>
      <p:cxnSp>
        <p:nvCxnSpPr>
          <p:cNvPr id="106" name="Assay 1: input to embedding"/>
          <p:cNvCxnSpPr/>
          <p:nvPr/>
        </p:nvCxnSpPr>
        <p:spPr>
          <a:xfrm>
            <a:off x="923544" y="1069848"/>
            <a:ext cx="128016" cy="0"/>
          </a:xfrm>
          <a:prstGeom prst="line">
            <a:avLst/>
          </a:prstGeom>
          <a:ln w="15240" cap="rnd">
            <a:solidFill>
              <a:srgbClr val="007F99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Assay 1: token to common sequence"/>
          <p:cNvCxnSpPr/>
          <p:nvPr/>
        </p:nvCxnSpPr>
        <p:spPr>
          <a:xfrm>
            <a:off x="2679192" y="1069848"/>
            <a:ext cx="137160" cy="0"/>
          </a:xfrm>
          <a:prstGeom prst="line">
            <a:avLst/>
          </a:prstGeom>
          <a:ln w="15240" cap="rnd">
            <a:solidFill>
              <a:srgbClr val="007F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Assay 2: input to embedding"/>
          <p:cNvCxnSpPr/>
          <p:nvPr/>
        </p:nvCxnSpPr>
        <p:spPr>
          <a:xfrm>
            <a:off x="923544" y="2807208"/>
            <a:ext cx="128016" cy="0"/>
          </a:xfrm>
          <a:prstGeom prst="line">
            <a:avLst/>
          </a:prstGeom>
          <a:ln w="15240" cap="rnd">
            <a:solidFill>
              <a:srgbClr val="007F99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Assay 2: token to common sequence"/>
          <p:cNvCxnSpPr/>
          <p:nvPr/>
        </p:nvCxnSpPr>
        <p:spPr>
          <a:xfrm>
            <a:off x="2679192" y="2807208"/>
            <a:ext cx="137160" cy="0"/>
          </a:xfrm>
          <a:prstGeom prst="line">
            <a:avLst/>
          </a:prstGeom>
          <a:ln w="15240" cap="rnd">
            <a:solidFill>
              <a:srgbClr val="007F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Assay N: input to embedding"/>
          <p:cNvCxnSpPr/>
          <p:nvPr/>
        </p:nvCxnSpPr>
        <p:spPr>
          <a:xfrm>
            <a:off x="923544" y="4553712"/>
            <a:ext cx="128016" cy="0"/>
          </a:xfrm>
          <a:prstGeom prst="line">
            <a:avLst/>
          </a:prstGeom>
          <a:ln w="15240" cap="rnd">
            <a:solidFill>
              <a:srgbClr val="007F99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Assay N: token to common sequence"/>
          <p:cNvCxnSpPr/>
          <p:nvPr/>
        </p:nvCxnSpPr>
        <p:spPr>
          <a:xfrm>
            <a:off x="2679192" y="4553712"/>
            <a:ext cx="137160" cy="0"/>
          </a:xfrm>
          <a:prstGeom prst="line">
            <a:avLst/>
          </a:prstGeom>
          <a:ln w="15240" cap="rnd">
            <a:solidFill>
              <a:srgbClr val="007F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mmon assay-token sequence"/>
          <p:cNvCxnSpPr/>
          <p:nvPr/>
        </p:nvCxnSpPr>
        <p:spPr>
          <a:xfrm>
            <a:off x="2816352" y="1069848"/>
            <a:ext cx="0" cy="3483864"/>
          </a:xfrm>
          <a:prstGeom prst="line">
            <a:avLst/>
          </a:prstGeom>
          <a:ln w="15240" cap="rnd">
            <a:solidFill>
              <a:srgbClr val="007F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equence into first layer normalization"/>
          <p:cNvCxnSpPr/>
          <p:nvPr/>
        </p:nvCxnSpPr>
        <p:spPr>
          <a:xfrm>
            <a:off x="2816352" y="1321308"/>
            <a:ext cx="521208" cy="0"/>
          </a:xfrm>
          <a:prstGeom prst="line">
            <a:avLst/>
          </a:prstGeom>
          <a:ln w="15240" cap="rnd">
            <a:solidFill>
              <a:srgbClr val="007F99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First residual source"/>
          <p:cNvSpPr/>
          <p:nvPr/>
        </p:nvSpPr>
        <p:spPr>
          <a:xfrm>
            <a:off x="3106674" y="1300734"/>
            <a:ext cx="41148" cy="41148"/>
          </a:xfrm>
          <a:prstGeom prst="ellipse">
            <a:avLst/>
          </a:prstGeom>
          <a:solidFill>
            <a:srgbClr val="007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LayerNorm 1 to attention"/>
          <p:cNvCxnSpPr/>
          <p:nvPr/>
        </p:nvCxnSpPr>
        <p:spPr>
          <a:xfrm>
            <a:off x="4297680" y="1527048"/>
            <a:ext cx="0" cy="201168"/>
          </a:xfrm>
          <a:prstGeom prst="line">
            <a:avLst/>
          </a:prstGeom>
          <a:ln w="15240" cap="rnd">
            <a:solidFill>
              <a:srgbClr val="007F99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Attention to residual add 1"/>
          <p:cNvCxnSpPr/>
          <p:nvPr/>
        </p:nvCxnSpPr>
        <p:spPr>
          <a:xfrm>
            <a:off x="4297680" y="2331720"/>
            <a:ext cx="0" cy="192024"/>
          </a:xfrm>
          <a:prstGeom prst="line">
            <a:avLst/>
          </a:prstGeom>
          <a:ln w="15240" cap="rnd">
            <a:solidFill>
              <a:srgbClr val="007F99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Residual add 1 to LayerNorm 2"/>
          <p:cNvCxnSpPr/>
          <p:nvPr/>
        </p:nvCxnSpPr>
        <p:spPr>
          <a:xfrm>
            <a:off x="4297680" y="2871216"/>
            <a:ext cx="0" cy="182880"/>
          </a:xfrm>
          <a:prstGeom prst="line">
            <a:avLst/>
          </a:prstGeom>
          <a:ln w="15240" cap="rnd">
            <a:solidFill>
              <a:srgbClr val="007F99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LayerNorm 2 to GELU feed-forward"/>
          <p:cNvCxnSpPr/>
          <p:nvPr/>
        </p:nvCxnSpPr>
        <p:spPr>
          <a:xfrm>
            <a:off x="4297680" y="3465576"/>
            <a:ext cx="0" cy="201168"/>
          </a:xfrm>
          <a:prstGeom prst="line">
            <a:avLst/>
          </a:prstGeom>
          <a:ln w="15240" cap="rnd">
            <a:solidFill>
              <a:srgbClr val="007F99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Feed-forward to residual add 2"/>
          <p:cNvCxnSpPr/>
          <p:nvPr/>
        </p:nvCxnSpPr>
        <p:spPr>
          <a:xfrm>
            <a:off x="4297680" y="4270248"/>
            <a:ext cx="0" cy="192024"/>
          </a:xfrm>
          <a:prstGeom prst="line">
            <a:avLst/>
          </a:prstGeom>
          <a:ln w="15240" cap="rnd">
            <a:solidFill>
              <a:srgbClr val="007F99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Residual 1: encoder input to first add [1]"/>
          <p:cNvCxnSpPr/>
          <p:nvPr/>
        </p:nvCxnSpPr>
        <p:spPr>
          <a:xfrm flipV="1">
            <a:off x="3127248" y="969264"/>
            <a:ext cx="0" cy="352044"/>
          </a:xfrm>
          <a:prstGeom prst="line">
            <a:avLst/>
          </a:prstGeom>
          <a:ln w="15240" cap="rnd">
            <a:solidFill>
              <a:srgbClr val="007F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Residual 1: encoder input to first add [2]"/>
          <p:cNvCxnSpPr/>
          <p:nvPr/>
        </p:nvCxnSpPr>
        <p:spPr>
          <a:xfrm>
            <a:off x="3127248" y="969264"/>
            <a:ext cx="2395728" cy="0"/>
          </a:xfrm>
          <a:prstGeom prst="line">
            <a:avLst/>
          </a:prstGeom>
          <a:ln w="15240" cap="rnd">
            <a:solidFill>
              <a:srgbClr val="007F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Residual 1: encoder input to first add [3]"/>
          <p:cNvCxnSpPr/>
          <p:nvPr/>
        </p:nvCxnSpPr>
        <p:spPr>
          <a:xfrm>
            <a:off x="5522976" y="969264"/>
            <a:ext cx="0" cy="1728216"/>
          </a:xfrm>
          <a:prstGeom prst="line">
            <a:avLst/>
          </a:prstGeom>
          <a:ln w="15240" cap="rnd">
            <a:solidFill>
              <a:srgbClr val="007F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Residual 1: encoder input to first add [4]"/>
          <p:cNvCxnSpPr/>
          <p:nvPr/>
        </p:nvCxnSpPr>
        <p:spPr>
          <a:xfrm flipH="1">
            <a:off x="5102352" y="2697480"/>
            <a:ext cx="420624" cy="0"/>
          </a:xfrm>
          <a:prstGeom prst="line">
            <a:avLst/>
          </a:prstGeom>
          <a:ln w="15240" cap="rnd">
            <a:solidFill>
              <a:srgbClr val="007F99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Second residual source"/>
          <p:cNvSpPr/>
          <p:nvPr/>
        </p:nvSpPr>
        <p:spPr>
          <a:xfrm>
            <a:off x="4277106" y="2942082"/>
            <a:ext cx="41148" cy="41148"/>
          </a:xfrm>
          <a:prstGeom prst="ellipse">
            <a:avLst/>
          </a:prstGeom>
          <a:solidFill>
            <a:srgbClr val="007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Residual 2: first add output to second add [1]"/>
          <p:cNvCxnSpPr/>
          <p:nvPr/>
        </p:nvCxnSpPr>
        <p:spPr>
          <a:xfrm>
            <a:off x="4297680" y="2962656"/>
            <a:ext cx="1225296" cy="0"/>
          </a:xfrm>
          <a:prstGeom prst="line">
            <a:avLst/>
          </a:prstGeom>
          <a:ln w="15240" cap="rnd">
            <a:solidFill>
              <a:srgbClr val="007F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Residual 2: first add output to second add [2]"/>
          <p:cNvCxnSpPr/>
          <p:nvPr/>
        </p:nvCxnSpPr>
        <p:spPr>
          <a:xfrm>
            <a:off x="5522976" y="2962656"/>
            <a:ext cx="0" cy="1673352"/>
          </a:xfrm>
          <a:prstGeom prst="line">
            <a:avLst/>
          </a:prstGeom>
          <a:ln w="15240" cap="rnd">
            <a:solidFill>
              <a:srgbClr val="007F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Residual 2: first add output to second add [3]"/>
          <p:cNvCxnSpPr/>
          <p:nvPr/>
        </p:nvCxnSpPr>
        <p:spPr>
          <a:xfrm flipH="1">
            <a:off x="5102352" y="4636008"/>
            <a:ext cx="420624" cy="0"/>
          </a:xfrm>
          <a:prstGeom prst="line">
            <a:avLst/>
          </a:prstGeom>
          <a:ln w="15240" cap="rnd">
            <a:solidFill>
              <a:srgbClr val="007F99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mpleted encoder output to global average pooling [1]"/>
          <p:cNvCxnSpPr/>
          <p:nvPr/>
        </p:nvCxnSpPr>
        <p:spPr>
          <a:xfrm>
            <a:off x="4297680" y="4809744"/>
            <a:ext cx="0" cy="210312"/>
          </a:xfrm>
          <a:prstGeom prst="line">
            <a:avLst/>
          </a:prstGeom>
          <a:ln w="17145" cap="rnd">
            <a:solidFill>
              <a:srgbClr val="007F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mpleted encoder output to global average pooling [2]"/>
          <p:cNvCxnSpPr/>
          <p:nvPr/>
        </p:nvCxnSpPr>
        <p:spPr>
          <a:xfrm>
            <a:off x="4297680" y="5020056"/>
            <a:ext cx="1508760" cy="0"/>
          </a:xfrm>
          <a:prstGeom prst="line">
            <a:avLst/>
          </a:prstGeom>
          <a:ln w="17145" cap="rnd">
            <a:solidFill>
              <a:srgbClr val="007F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mpleted encoder output to global average pooling [3]"/>
          <p:cNvCxnSpPr/>
          <p:nvPr/>
        </p:nvCxnSpPr>
        <p:spPr>
          <a:xfrm flipV="1">
            <a:off x="5806440" y="1714500"/>
            <a:ext cx="0" cy="3305556"/>
          </a:xfrm>
          <a:prstGeom prst="line">
            <a:avLst/>
          </a:prstGeom>
          <a:ln w="17145" cap="rnd">
            <a:solidFill>
              <a:srgbClr val="007F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mpleted encoder output to global average pooling [4]"/>
          <p:cNvCxnSpPr/>
          <p:nvPr/>
        </p:nvCxnSpPr>
        <p:spPr>
          <a:xfrm>
            <a:off x="5806440" y="1714500"/>
            <a:ext cx="192024" cy="0"/>
          </a:xfrm>
          <a:prstGeom prst="line">
            <a:avLst/>
          </a:prstGeom>
          <a:ln w="17145" cap="rnd">
            <a:solidFill>
              <a:srgbClr val="007F99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Pooled representation to candidate head inputs"/>
          <p:cNvCxnSpPr/>
          <p:nvPr/>
        </p:nvCxnSpPr>
        <p:spPr>
          <a:xfrm>
            <a:off x="7306056" y="1714500"/>
            <a:ext cx="1655064" cy="0"/>
          </a:xfrm>
          <a:prstGeom prst="line">
            <a:avLst/>
          </a:prstGeom>
          <a:ln w="17145" cap="rnd">
            <a:solidFill>
              <a:srgbClr val="007F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andidate input bus"/>
          <p:cNvCxnSpPr/>
          <p:nvPr/>
        </p:nvCxnSpPr>
        <p:spPr>
          <a:xfrm>
            <a:off x="8961120" y="754380"/>
            <a:ext cx="0" cy="2743200"/>
          </a:xfrm>
          <a:prstGeom prst="line">
            <a:avLst/>
          </a:prstGeom>
          <a:ln w="15240" cap="rnd">
            <a:solidFill>
              <a:srgbClr val="007F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Pooled representation into MLP candidate"/>
          <p:cNvCxnSpPr/>
          <p:nvPr/>
        </p:nvCxnSpPr>
        <p:spPr>
          <a:xfrm>
            <a:off x="8961120" y="754380"/>
            <a:ext cx="256032" cy="0"/>
          </a:xfrm>
          <a:prstGeom prst="line">
            <a:avLst/>
          </a:prstGeom>
          <a:ln w="15240" cap="rnd">
            <a:solidFill>
              <a:srgbClr val="007F99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Pooled representation into RBF candidate"/>
          <p:cNvCxnSpPr/>
          <p:nvPr/>
        </p:nvCxnSpPr>
        <p:spPr>
          <a:xfrm>
            <a:off x="8961120" y="1440180"/>
            <a:ext cx="256032" cy="0"/>
          </a:xfrm>
          <a:prstGeom prst="line">
            <a:avLst/>
          </a:prstGeom>
          <a:ln w="15240" cap="rnd">
            <a:solidFill>
              <a:srgbClr val="007F99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Pooled representation into KAN candidate"/>
          <p:cNvCxnSpPr/>
          <p:nvPr/>
        </p:nvCxnSpPr>
        <p:spPr>
          <a:xfrm>
            <a:off x="8961120" y="2125980"/>
            <a:ext cx="256032" cy="0"/>
          </a:xfrm>
          <a:prstGeom prst="line">
            <a:avLst/>
          </a:prstGeom>
          <a:ln w="15240" cap="rnd">
            <a:solidFill>
              <a:srgbClr val="007F99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Pooled representation into Cubic-spline candidate"/>
          <p:cNvCxnSpPr/>
          <p:nvPr/>
        </p:nvCxnSpPr>
        <p:spPr>
          <a:xfrm>
            <a:off x="8961120" y="2811780"/>
            <a:ext cx="256032" cy="0"/>
          </a:xfrm>
          <a:prstGeom prst="line">
            <a:avLst/>
          </a:prstGeom>
          <a:ln w="15240" cap="rnd">
            <a:solidFill>
              <a:srgbClr val="007F99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Pooled representation into Pairwise interaction candidate"/>
          <p:cNvCxnSpPr/>
          <p:nvPr/>
        </p:nvCxnSpPr>
        <p:spPr>
          <a:xfrm>
            <a:off x="8961120" y="3497580"/>
            <a:ext cx="256032" cy="0"/>
          </a:xfrm>
          <a:prstGeom prst="line">
            <a:avLst/>
          </a:prstGeom>
          <a:ln w="15240" cap="rnd">
            <a:solidFill>
              <a:srgbClr val="007F99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Illustrated KAN selection to CV-selected head [1]"/>
          <p:cNvCxnSpPr/>
          <p:nvPr/>
        </p:nvCxnSpPr>
        <p:spPr>
          <a:xfrm>
            <a:off x="11375136" y="2125980"/>
            <a:ext cx="438912" cy="0"/>
          </a:xfrm>
          <a:prstGeom prst="line">
            <a:avLst/>
          </a:prstGeom>
          <a:ln w="18415" cap="rnd">
            <a:solidFill>
              <a:srgbClr val="007F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Illustrated KAN selection to CV-selected head [2]"/>
          <p:cNvCxnSpPr/>
          <p:nvPr/>
        </p:nvCxnSpPr>
        <p:spPr>
          <a:xfrm>
            <a:off x="11814048" y="2125980"/>
            <a:ext cx="0" cy="1915668"/>
          </a:xfrm>
          <a:prstGeom prst="line">
            <a:avLst/>
          </a:prstGeom>
          <a:ln w="18415" cap="rnd">
            <a:solidFill>
              <a:srgbClr val="007F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Illustrated KAN selection to CV-selected head [3]"/>
          <p:cNvCxnSpPr/>
          <p:nvPr/>
        </p:nvCxnSpPr>
        <p:spPr>
          <a:xfrm flipH="1">
            <a:off x="8778240" y="4041648"/>
            <a:ext cx="3035808" cy="0"/>
          </a:xfrm>
          <a:prstGeom prst="line">
            <a:avLst/>
          </a:prstGeom>
          <a:ln w="18415" cap="rnd">
            <a:solidFill>
              <a:srgbClr val="007F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Illustrated KAN selection to CV-selected head [4]"/>
          <p:cNvCxnSpPr/>
          <p:nvPr/>
        </p:nvCxnSpPr>
        <p:spPr>
          <a:xfrm flipV="1">
            <a:off x="8778240" y="3209544"/>
            <a:ext cx="0" cy="832104"/>
          </a:xfrm>
          <a:prstGeom prst="line">
            <a:avLst/>
          </a:prstGeom>
          <a:ln w="18415" cap="rnd">
            <a:solidFill>
              <a:srgbClr val="007F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Illustrated KAN selection to CV-selected head [5]"/>
          <p:cNvCxnSpPr/>
          <p:nvPr/>
        </p:nvCxnSpPr>
        <p:spPr>
          <a:xfrm flipH="1">
            <a:off x="8170164" y="3209544"/>
            <a:ext cx="608076" cy="0"/>
          </a:xfrm>
          <a:prstGeom prst="line">
            <a:avLst/>
          </a:prstGeom>
          <a:ln w="18415" cap="rnd">
            <a:solidFill>
              <a:srgbClr val="007F99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elected head to task output"/>
          <p:cNvCxnSpPr/>
          <p:nvPr/>
        </p:nvCxnSpPr>
        <p:spPr>
          <a:xfrm>
            <a:off x="7255764" y="3538728"/>
            <a:ext cx="0" cy="320040"/>
          </a:xfrm>
          <a:prstGeom prst="line">
            <a:avLst/>
          </a:prstGeom>
          <a:ln w="17145" cap="rnd">
            <a:solidFill>
              <a:srgbClr val="007F99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Task output to endpoint applications"/>
          <p:cNvCxnSpPr/>
          <p:nvPr/>
        </p:nvCxnSpPr>
        <p:spPr>
          <a:xfrm>
            <a:off x="7255764" y="4700016"/>
            <a:ext cx="0" cy="256032"/>
          </a:xfrm>
          <a:prstGeom prst="line">
            <a:avLst/>
          </a:prstGeom>
          <a:ln w="15875" cap="rnd">
            <a:solidFill>
              <a:srgbClr val="007F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ndpoint application bus"/>
          <p:cNvCxnSpPr/>
          <p:nvPr/>
        </p:nvCxnSpPr>
        <p:spPr>
          <a:xfrm>
            <a:off x="6240780" y="4956048"/>
            <a:ext cx="4855464" cy="0"/>
          </a:xfrm>
          <a:prstGeom prst="line">
            <a:avLst/>
          </a:prstGeom>
          <a:ln w="14604" cap="rnd">
            <a:solidFill>
              <a:srgbClr val="007F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Viscosity application"/>
          <p:cNvCxnSpPr/>
          <p:nvPr/>
        </p:nvCxnSpPr>
        <p:spPr>
          <a:xfrm>
            <a:off x="6240780" y="4956048"/>
            <a:ext cx="0" cy="256032"/>
          </a:xfrm>
          <a:prstGeom prst="line">
            <a:avLst/>
          </a:prstGeom>
          <a:ln w="14604" cap="rnd">
            <a:solidFill>
              <a:srgbClr val="007F99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Mouse IV exposure application"/>
          <p:cNvCxnSpPr/>
          <p:nvPr/>
        </p:nvCxnSpPr>
        <p:spPr>
          <a:xfrm>
            <a:off x="7859268" y="4956048"/>
            <a:ext cx="0" cy="256032"/>
          </a:xfrm>
          <a:prstGeom prst="line">
            <a:avLst/>
          </a:prstGeom>
          <a:ln w="14604" cap="rnd">
            <a:solidFill>
              <a:srgbClr val="007F99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HIC retention application"/>
          <p:cNvCxnSpPr/>
          <p:nvPr/>
        </p:nvCxnSpPr>
        <p:spPr>
          <a:xfrm>
            <a:off x="9477756" y="4956048"/>
            <a:ext cx="0" cy="256032"/>
          </a:xfrm>
          <a:prstGeom prst="line">
            <a:avLst/>
          </a:prstGeom>
          <a:ln w="14604" cap="rnd">
            <a:solidFill>
              <a:srgbClr val="007F99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linical outcome application"/>
          <p:cNvCxnSpPr/>
          <p:nvPr/>
        </p:nvCxnSpPr>
        <p:spPr>
          <a:xfrm>
            <a:off x="11096244" y="4956048"/>
            <a:ext cx="0" cy="256032"/>
          </a:xfrm>
          <a:prstGeom prst="line">
            <a:avLst/>
          </a:prstGeom>
          <a:ln w="14604" cap="rnd">
            <a:solidFill>
              <a:srgbClr val="007F99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101</Words>
  <Application>Microsoft Office PowerPoint</Application>
  <PresentationFormat>Widescreen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ACeT architecture for assay-integrated antibody developability prediction</dc:title>
  <dc:subject>Figure 1</dc:subject>
  <dc:creator>Sabitoj Singh Virk and Akashdeep Singh Virk</dc:creator>
  <cp:keywords>ACeT; antibody developability; transformer architecture</cp:keywords>
  <dc:description/>
  <cp:lastModifiedBy>Sabitoj Singh Virk</cp:lastModifiedBy>
  <cp:revision>8</cp:revision>
  <dcterms:created xsi:type="dcterms:W3CDTF">2013-01-27T09:14:16Z</dcterms:created>
  <dcterms:modified xsi:type="dcterms:W3CDTF">2026-09-04T19:25:09Z</dcterms:modified>
  <cp:category/>
</cp:coreProperties>
</file>